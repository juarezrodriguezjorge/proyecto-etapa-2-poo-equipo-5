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elvetica World Bold" charset="1" panose="020B0800040000020004"/>
      <p:regular r:id="rId18"/>
    </p:embeddedFont>
    <p:embeddedFont>
      <p:font typeface="Helvetica World" charset="1" panose="020B0500040000020004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7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53157" y="-586547"/>
            <a:ext cx="3489361" cy="1914787"/>
          </a:xfrm>
          <a:custGeom>
            <a:avLst/>
            <a:gdLst/>
            <a:ahLst/>
            <a:cxnLst/>
            <a:rect r="r" b="b" t="t" l="l"/>
            <a:pathLst>
              <a:path h="1914787" w="3489361">
                <a:moveTo>
                  <a:pt x="0" y="0"/>
                </a:moveTo>
                <a:lnTo>
                  <a:pt x="3489360" y="0"/>
                </a:lnTo>
                <a:lnTo>
                  <a:pt x="3489360" y="1914787"/>
                </a:lnTo>
                <a:lnTo>
                  <a:pt x="0" y="1914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6215" y="-1122339"/>
            <a:ext cx="14552378" cy="1493185"/>
            <a:chOff x="0" y="0"/>
            <a:chExt cx="3832725" cy="3932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32725" cy="393267"/>
            </a:xfrm>
            <a:custGeom>
              <a:avLst/>
              <a:gdLst/>
              <a:ahLst/>
              <a:cxnLst/>
              <a:rect r="r" b="b" t="t" l="l"/>
              <a:pathLst>
                <a:path h="393267" w="3832725">
                  <a:moveTo>
                    <a:pt x="0" y="0"/>
                  </a:moveTo>
                  <a:lnTo>
                    <a:pt x="3832725" y="0"/>
                  </a:lnTo>
                  <a:lnTo>
                    <a:pt x="3832725" y="393267"/>
                  </a:lnTo>
                  <a:lnTo>
                    <a:pt x="0" y="393267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32725" cy="431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324263" y="-167160"/>
            <a:ext cx="8883183" cy="10621319"/>
            <a:chOff x="0" y="0"/>
            <a:chExt cx="8603361" cy="102867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50" y="-128"/>
              <a:ext cx="8603411" cy="10286874"/>
            </a:xfrm>
            <a:custGeom>
              <a:avLst/>
              <a:gdLst/>
              <a:ahLst/>
              <a:cxnLst/>
              <a:rect r="r" b="b" t="t" l="l"/>
              <a:pathLst>
                <a:path h="10286874" w="8603411">
                  <a:moveTo>
                    <a:pt x="8603411" y="10251441"/>
                  </a:moveTo>
                  <a:cubicBezTo>
                    <a:pt x="8603411" y="10284588"/>
                    <a:pt x="8592743" y="10286874"/>
                    <a:pt x="8564930" y="10286874"/>
                  </a:cubicBezTo>
                  <a:cubicBezTo>
                    <a:pt x="5710350" y="10286239"/>
                    <a:pt x="2855899" y="10286239"/>
                    <a:pt x="1320" y="10286239"/>
                  </a:cubicBezTo>
                  <a:cubicBezTo>
                    <a:pt x="-2744" y="10272396"/>
                    <a:pt x="3606" y="10259823"/>
                    <a:pt x="6527" y="10246996"/>
                  </a:cubicBezTo>
                  <a:cubicBezTo>
                    <a:pt x="132003" y="9685402"/>
                    <a:pt x="257606" y="9123935"/>
                    <a:pt x="383463" y="8562467"/>
                  </a:cubicBezTo>
                  <a:cubicBezTo>
                    <a:pt x="562914" y="7761986"/>
                    <a:pt x="742746" y="6961633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6"/>
                    <a:pt x="8602395" y="6846317"/>
                    <a:pt x="8603411" y="10251441"/>
                  </a:cubicBezTo>
                  <a:close/>
                </a:path>
              </a:pathLst>
            </a:custGeom>
            <a:blipFill>
              <a:blip r:embed="rId4"/>
              <a:stretch>
                <a:fillRect l="-91908" t="0" r="-2065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78256" y="6066482"/>
            <a:ext cx="8966236" cy="2238403"/>
            <a:chOff x="0" y="0"/>
            <a:chExt cx="11954981" cy="29845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908589"/>
              <a:ext cx="11954981" cy="1075948"/>
            </a:xfrm>
            <a:custGeom>
              <a:avLst/>
              <a:gdLst/>
              <a:ahLst/>
              <a:cxnLst/>
              <a:rect r="r" b="b" t="t" l="l"/>
              <a:pathLst>
                <a:path h="1075948" w="11954981">
                  <a:moveTo>
                    <a:pt x="0" y="0"/>
                  </a:moveTo>
                  <a:lnTo>
                    <a:pt x="11954981" y="0"/>
                  </a:lnTo>
                  <a:lnTo>
                    <a:pt x="11954981" y="1075948"/>
                  </a:lnTo>
                  <a:lnTo>
                    <a:pt x="0" y="1075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0"/>
              <a:ext cx="11954981" cy="1920407"/>
              <a:chOff x="0" y="0"/>
              <a:chExt cx="3917735" cy="62933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17735" cy="629331"/>
              </a:xfrm>
              <a:custGeom>
                <a:avLst/>
                <a:gdLst/>
                <a:ahLst/>
                <a:cxnLst/>
                <a:rect r="r" b="b" t="t" l="l"/>
                <a:pathLst>
                  <a:path h="629331" w="3917735">
                    <a:moveTo>
                      <a:pt x="0" y="0"/>
                    </a:moveTo>
                    <a:lnTo>
                      <a:pt x="3917735" y="0"/>
                    </a:lnTo>
                    <a:lnTo>
                      <a:pt x="3917735" y="629331"/>
                    </a:lnTo>
                    <a:lnTo>
                      <a:pt x="0" y="629331"/>
                    </a:lnTo>
                    <a:close/>
                  </a:path>
                </a:pathLst>
              </a:custGeom>
              <a:solidFill>
                <a:srgbClr val="3F4B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917735" cy="667431"/>
              </a:xfrm>
              <a:prstGeom prst="rect">
                <a:avLst/>
              </a:prstGeom>
            </p:spPr>
            <p:txBody>
              <a:bodyPr anchor="ctr" rtlCol="false" tIns="41248" lIns="41248" bIns="41248" rIns="4124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7157195" y="9885624"/>
            <a:ext cx="12619123" cy="913343"/>
            <a:chOff x="0" y="0"/>
            <a:chExt cx="3323555" cy="2405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23555" cy="240551"/>
            </a:xfrm>
            <a:custGeom>
              <a:avLst/>
              <a:gdLst/>
              <a:ahLst/>
              <a:cxnLst/>
              <a:rect r="r" b="b" t="t" l="l"/>
              <a:pathLst>
                <a:path h="240551" w="3323555">
                  <a:moveTo>
                    <a:pt x="0" y="0"/>
                  </a:moveTo>
                  <a:lnTo>
                    <a:pt x="3323555" y="0"/>
                  </a:lnTo>
                  <a:lnTo>
                    <a:pt x="3323555" y="240551"/>
                  </a:lnTo>
                  <a:lnTo>
                    <a:pt x="0" y="240551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323555" cy="278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78256" y="3130240"/>
            <a:ext cx="9630503" cy="185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4"/>
              </a:lnSpc>
            </a:pPr>
            <a:r>
              <a:rPr lang="en-US" b="true" sz="5915">
                <a:solidFill>
                  <a:srgbClr val="F5F3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SIMULADO</a:t>
            </a:r>
            <a:r>
              <a:rPr lang="en-US" b="true" sz="5915" strike="noStrike" u="none">
                <a:solidFill>
                  <a:srgbClr val="F5F3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 DE SISTEMA HOSPITALARIO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1304" y="6229061"/>
            <a:ext cx="8300140" cy="148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</a:pPr>
            <a:r>
              <a:rPr lang="en-US" sz="2663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Programación Orientada a Objetos</a:t>
            </a:r>
          </a:p>
          <a:p>
            <a:pPr algn="l">
              <a:lnSpc>
                <a:spcPts val="3728"/>
              </a:lnSpc>
            </a:pPr>
            <a:r>
              <a:rPr lang="en-US" sz="2663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Equipo 5 - Grupo 7</a:t>
            </a:r>
          </a:p>
          <a:p>
            <a:pPr algn="l">
              <a:lnSpc>
                <a:spcPts val="3728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78256" y="2033027"/>
            <a:ext cx="623276" cy="535238"/>
          </a:xfrm>
          <a:custGeom>
            <a:avLst/>
            <a:gdLst/>
            <a:ahLst/>
            <a:cxnLst/>
            <a:rect r="r" b="b" t="t" l="l"/>
            <a:pathLst>
              <a:path h="535238" w="623276">
                <a:moveTo>
                  <a:pt x="0" y="0"/>
                </a:moveTo>
                <a:lnTo>
                  <a:pt x="623276" y="0"/>
                </a:lnTo>
                <a:lnTo>
                  <a:pt x="623276" y="535238"/>
                </a:lnTo>
                <a:lnTo>
                  <a:pt x="0" y="535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951830" y="2052077"/>
            <a:ext cx="4344878" cy="50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1"/>
              </a:lnSpc>
            </a:pPr>
            <a:r>
              <a:rPr lang="en-US" b="true" sz="3176">
                <a:solidFill>
                  <a:srgbClr val="F5F3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PROYECTO ETAPA 2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5400000">
            <a:off x="9683987" y="102620"/>
            <a:ext cx="1013852" cy="2866012"/>
          </a:xfrm>
          <a:custGeom>
            <a:avLst/>
            <a:gdLst/>
            <a:ahLst/>
            <a:cxnLst/>
            <a:rect r="r" b="b" t="t" l="l"/>
            <a:pathLst>
              <a:path h="2866012" w="1013852">
                <a:moveTo>
                  <a:pt x="0" y="0"/>
                </a:moveTo>
                <a:lnTo>
                  <a:pt x="1013852" y="0"/>
                </a:lnTo>
                <a:lnTo>
                  <a:pt x="1013852" y="2866012"/>
                </a:lnTo>
                <a:lnTo>
                  <a:pt x="0" y="28660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8700" y="8928231"/>
            <a:ext cx="3489361" cy="1914787"/>
          </a:xfrm>
          <a:custGeom>
            <a:avLst/>
            <a:gdLst/>
            <a:ahLst/>
            <a:cxnLst/>
            <a:rect r="r" b="b" t="t" l="l"/>
            <a:pathLst>
              <a:path h="1914787" w="3489361">
                <a:moveTo>
                  <a:pt x="0" y="0"/>
                </a:moveTo>
                <a:lnTo>
                  <a:pt x="3489361" y="0"/>
                </a:lnTo>
                <a:lnTo>
                  <a:pt x="3489361" y="1914787"/>
                </a:lnTo>
                <a:lnTo>
                  <a:pt x="0" y="1914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5400000">
            <a:off x="1726180" y="7397854"/>
            <a:ext cx="1013852" cy="2866012"/>
          </a:xfrm>
          <a:custGeom>
            <a:avLst/>
            <a:gdLst/>
            <a:ahLst/>
            <a:cxnLst/>
            <a:rect r="r" b="b" t="t" l="l"/>
            <a:pathLst>
              <a:path h="2866012" w="1013852">
                <a:moveTo>
                  <a:pt x="0" y="0"/>
                </a:moveTo>
                <a:lnTo>
                  <a:pt x="1013852" y="0"/>
                </a:lnTo>
                <a:lnTo>
                  <a:pt x="1013852" y="2866012"/>
                </a:lnTo>
                <a:lnTo>
                  <a:pt x="0" y="28660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4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9101" y="-211074"/>
            <a:ext cx="6370261" cy="10498074"/>
            <a:chOff x="0" y="0"/>
            <a:chExt cx="8493682" cy="13997431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9785" t="0" r="29785" b="0"/>
            <a:stretch>
              <a:fillRect/>
            </a:stretch>
          </p:blipFill>
          <p:spPr>
            <a:xfrm flipH="true" flipV="false">
              <a:off x="0" y="0"/>
              <a:ext cx="8493682" cy="13997431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5400000">
            <a:off x="11642632" y="-3438533"/>
            <a:ext cx="439920" cy="10097366"/>
            <a:chOff x="0" y="0"/>
            <a:chExt cx="127508" cy="29266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508" cy="2926651"/>
            </a:xfrm>
            <a:custGeom>
              <a:avLst/>
              <a:gdLst/>
              <a:ahLst/>
              <a:cxnLst/>
              <a:rect r="r" b="b" t="t" l="l"/>
              <a:pathLst>
                <a:path h="2926651" w="127508">
                  <a:moveTo>
                    <a:pt x="0" y="0"/>
                  </a:moveTo>
                  <a:lnTo>
                    <a:pt x="127508" y="0"/>
                  </a:lnTo>
                  <a:lnTo>
                    <a:pt x="127508" y="2926651"/>
                  </a:lnTo>
                  <a:lnTo>
                    <a:pt x="0" y="2926651"/>
                  </a:lnTo>
                  <a:close/>
                </a:path>
              </a:pathLst>
            </a:custGeom>
            <a:solidFill>
              <a:srgbClr val="0E178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7508" cy="2964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848791" y="9382790"/>
            <a:ext cx="3195878" cy="1130542"/>
            <a:chOff x="0" y="0"/>
            <a:chExt cx="4261170" cy="1507389"/>
          </a:xfrm>
        </p:grpSpPr>
        <p:sp>
          <p:nvSpPr>
            <p:cNvPr name="Freeform 8" id="8"/>
            <p:cNvSpPr/>
            <p:nvPr/>
          </p:nvSpPr>
          <p:spPr>
            <a:xfrm flipH="false" flipV="false" rot="5400000">
              <a:off x="303641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5400000">
              <a:off x="1887990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5400000">
              <a:off x="78265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5400000">
              <a:off x="-282635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8" y="0"/>
                  </a:lnTo>
                  <a:lnTo>
                    <a:pt x="1507388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2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813909" y="-635635"/>
            <a:ext cx="3032957" cy="1664335"/>
          </a:xfrm>
          <a:custGeom>
            <a:avLst/>
            <a:gdLst/>
            <a:ahLst/>
            <a:cxnLst/>
            <a:rect r="r" b="b" t="t" l="l"/>
            <a:pathLst>
              <a:path h="1664335" w="3032957">
                <a:moveTo>
                  <a:pt x="0" y="0"/>
                </a:moveTo>
                <a:lnTo>
                  <a:pt x="3032957" y="0"/>
                </a:lnTo>
                <a:lnTo>
                  <a:pt x="3032957" y="1664335"/>
                </a:lnTo>
                <a:lnTo>
                  <a:pt x="0" y="1664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15173993" y="7784851"/>
            <a:ext cx="1130542" cy="3195878"/>
          </a:xfrm>
          <a:custGeom>
            <a:avLst/>
            <a:gdLst/>
            <a:ahLst/>
            <a:cxnLst/>
            <a:rect r="r" b="b" t="t" l="l"/>
            <a:pathLst>
              <a:path h="3195878" w="1130542">
                <a:moveTo>
                  <a:pt x="0" y="0"/>
                </a:moveTo>
                <a:lnTo>
                  <a:pt x="1130542" y="0"/>
                </a:lnTo>
                <a:lnTo>
                  <a:pt x="1130542" y="3195878"/>
                </a:lnTo>
                <a:lnTo>
                  <a:pt x="0" y="31958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13909" y="2258735"/>
            <a:ext cx="9879923" cy="1104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61"/>
              </a:lnSpc>
            </a:pPr>
            <a:r>
              <a:rPr lang="en-US" b="true" sz="4137">
                <a:solidFill>
                  <a:srgbClr val="FFFE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4137" strike="noStrike" u="none">
                <a:solidFill>
                  <a:srgbClr val="FFFE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BJETIVOS DE LA SEGUNDA ETAPA</a:t>
            </a:r>
          </a:p>
          <a:p>
            <a:pPr algn="l" marL="0" indent="0" lvl="0">
              <a:lnSpc>
                <a:spcPts val="426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452242" y="3174841"/>
            <a:ext cx="11592427" cy="576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  <a:r>
              <a:rPr lang="en-US" sz="1685" strike="noStrike" u="none">
                <a:solidFill>
                  <a:srgbClr val="FFFE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Continuar el desarrollo del simulador hospitalario, incorporando nuevas estructuras de Programación Orientada a Objetos y conservando sus funcionalidades originales.</a:t>
            </a:r>
          </a:p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  <a:r>
              <a:rPr lang="en-US" b="true" sz="1685" strike="noStrike" u="none">
                <a:solidFill>
                  <a:srgbClr val="FFFE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Encapsulamiento</a:t>
            </a:r>
            <a:r>
              <a:rPr lang="en-US" sz="1685" strike="noStrike" u="none">
                <a:solidFill>
                  <a:srgbClr val="FFFE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proteger los atributos, validar su información y controlar las modificaciones mediante métodos de acceso.</a:t>
            </a:r>
          </a:p>
          <a:p>
            <a:pPr algn="l">
              <a:lnSpc>
                <a:spcPts val="2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  <a:r>
              <a:rPr lang="en-US" b="true" sz="1685" strike="noStrike" u="none">
                <a:solidFill>
                  <a:srgbClr val="FFFE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Paquetes</a:t>
            </a:r>
            <a:r>
              <a:rPr lang="en-US" sz="1685" strike="noStrike" u="none">
                <a:solidFill>
                  <a:srgbClr val="FFFE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o</a:t>
            </a:r>
            <a:r>
              <a:rPr lang="en-US" sz="1685" strike="noStrike" u="none">
                <a:solidFill>
                  <a:srgbClr val="FFFE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rganizar las clases según su responsabilidad y permitir la comunicación entre los componentes.</a:t>
            </a:r>
          </a:p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  <a:r>
              <a:rPr lang="en-US" b="true" sz="1685" strike="noStrike" u="none">
                <a:solidFill>
                  <a:srgbClr val="FFFE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Herencia y clases abstractas</a:t>
            </a:r>
            <a:r>
              <a:rPr lang="en-US" sz="1685" strike="noStrike" u="none">
                <a:solidFill>
                  <a:srgbClr val="FFFE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crear jerarquías de pacientes, médicos y enfermeros, compartiendo características y definiendo especializaciones.</a:t>
            </a:r>
          </a:p>
          <a:p>
            <a:pPr algn="l">
              <a:lnSpc>
                <a:spcPts val="2359"/>
              </a:lnSpc>
              <a:spcBef>
                <a:spcPct val="0"/>
              </a:spcBef>
            </a:pPr>
            <a:r>
              <a:rPr lang="en-US" sz="1685" strike="noStrike" u="none">
                <a:solidFill>
                  <a:srgbClr val="FFFE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Interfaces: establecer operaciones comunes para diferentes tipos de personal médico.</a:t>
            </a:r>
          </a:p>
          <a:p>
            <a:pPr algn="l">
              <a:lnSpc>
                <a:spcPts val="2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  <a:r>
              <a:rPr lang="en-US" b="true" sz="1685" strike="noStrike" u="none">
                <a:solidFill>
                  <a:srgbClr val="FFFE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Polimorfismo</a:t>
            </a:r>
            <a:r>
              <a:rPr lang="en-US" sz="1685" strike="noStrike" u="none">
                <a:solidFill>
                  <a:srgbClr val="FFFE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i</a:t>
            </a:r>
            <a:r>
              <a:rPr lang="en-US" sz="1685" strike="noStrike" u="none">
                <a:solidFill>
                  <a:srgbClr val="FFFE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mplementar sobrecarga, sobrescritura y manejo de objetos mediante referencias de clases base.</a:t>
            </a:r>
          </a:p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  <a:r>
              <a:rPr lang="en-US" b="true" sz="1685" strike="noStrike" u="none">
                <a:solidFill>
                  <a:srgbClr val="FFFE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Restricciones del sistema</a:t>
            </a:r>
            <a:r>
              <a:rPr lang="en-US" sz="1685" strike="noStrike" u="none">
                <a:solidFill>
                  <a:srgbClr val="FFFE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conservar las capacidades, las reglas de asignación y los mecanismos de consulta y tratamiento, incorporando la supervisión de enfermería.</a:t>
            </a:r>
          </a:p>
          <a:p>
            <a:pPr algn="l">
              <a:lnSpc>
                <a:spcPts val="2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58920" y="1868184"/>
            <a:ext cx="10370161" cy="337406"/>
            <a:chOff x="0" y="0"/>
            <a:chExt cx="2731236" cy="88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1236" cy="88864"/>
            </a:xfrm>
            <a:custGeom>
              <a:avLst/>
              <a:gdLst/>
              <a:ahLst/>
              <a:cxnLst/>
              <a:rect r="r" b="b" t="t" l="l"/>
              <a:pathLst>
                <a:path h="88864" w="2731236">
                  <a:moveTo>
                    <a:pt x="0" y="0"/>
                  </a:moveTo>
                  <a:lnTo>
                    <a:pt x="2731236" y="0"/>
                  </a:lnTo>
                  <a:lnTo>
                    <a:pt x="2731236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31236" cy="12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6355121" y="8905006"/>
            <a:ext cx="1130542" cy="706589"/>
          </a:xfrm>
          <a:custGeom>
            <a:avLst/>
            <a:gdLst/>
            <a:ahLst/>
            <a:cxnLst/>
            <a:rect r="r" b="b" t="t" l="l"/>
            <a:pathLst>
              <a:path h="706589" w="1130542">
                <a:moveTo>
                  <a:pt x="0" y="0"/>
                </a:moveTo>
                <a:lnTo>
                  <a:pt x="1130541" y="0"/>
                </a:lnTo>
                <a:lnTo>
                  <a:pt x="1130541" y="706588"/>
                </a:lnTo>
                <a:lnTo>
                  <a:pt x="0" y="706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493801" y="8905006"/>
            <a:ext cx="1130542" cy="706589"/>
          </a:xfrm>
          <a:custGeom>
            <a:avLst/>
            <a:gdLst/>
            <a:ahLst/>
            <a:cxnLst/>
            <a:rect r="r" b="b" t="t" l="l"/>
            <a:pathLst>
              <a:path h="706589" w="1130542">
                <a:moveTo>
                  <a:pt x="0" y="0"/>
                </a:moveTo>
                <a:lnTo>
                  <a:pt x="1130542" y="0"/>
                </a:lnTo>
                <a:lnTo>
                  <a:pt x="1130542" y="706588"/>
                </a:lnTo>
                <a:lnTo>
                  <a:pt x="0" y="706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4664801" y="8905006"/>
            <a:ext cx="1130542" cy="706589"/>
          </a:xfrm>
          <a:custGeom>
            <a:avLst/>
            <a:gdLst/>
            <a:ahLst/>
            <a:cxnLst/>
            <a:rect r="r" b="b" t="t" l="l"/>
            <a:pathLst>
              <a:path h="706589" w="1130542">
                <a:moveTo>
                  <a:pt x="0" y="0"/>
                </a:moveTo>
                <a:lnTo>
                  <a:pt x="1130542" y="0"/>
                </a:lnTo>
                <a:lnTo>
                  <a:pt x="1130542" y="706588"/>
                </a:lnTo>
                <a:lnTo>
                  <a:pt x="0" y="706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3865832" y="8905006"/>
            <a:ext cx="1130542" cy="706589"/>
          </a:xfrm>
          <a:custGeom>
            <a:avLst/>
            <a:gdLst/>
            <a:ahLst/>
            <a:cxnLst/>
            <a:rect r="r" b="b" t="t" l="l"/>
            <a:pathLst>
              <a:path h="706589" w="1130542">
                <a:moveTo>
                  <a:pt x="0" y="0"/>
                </a:moveTo>
                <a:lnTo>
                  <a:pt x="1130541" y="0"/>
                </a:lnTo>
                <a:lnTo>
                  <a:pt x="1130541" y="706588"/>
                </a:lnTo>
                <a:lnTo>
                  <a:pt x="0" y="706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73206" y="9258300"/>
            <a:ext cx="3514794" cy="1928743"/>
          </a:xfrm>
          <a:custGeom>
            <a:avLst/>
            <a:gdLst/>
            <a:ahLst/>
            <a:cxnLst/>
            <a:rect r="r" b="b" t="t" l="l"/>
            <a:pathLst>
              <a:path h="1928743" w="3514794">
                <a:moveTo>
                  <a:pt x="0" y="0"/>
                </a:moveTo>
                <a:lnTo>
                  <a:pt x="3514794" y="0"/>
                </a:lnTo>
                <a:lnTo>
                  <a:pt x="3514794" y="1928743"/>
                </a:lnTo>
                <a:lnTo>
                  <a:pt x="0" y="192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2685" y="-900043"/>
            <a:ext cx="3514794" cy="1928743"/>
          </a:xfrm>
          <a:custGeom>
            <a:avLst/>
            <a:gdLst/>
            <a:ahLst/>
            <a:cxnLst/>
            <a:rect r="r" b="b" t="t" l="l"/>
            <a:pathLst>
              <a:path h="1928743" w="3514794">
                <a:moveTo>
                  <a:pt x="0" y="0"/>
                </a:moveTo>
                <a:lnTo>
                  <a:pt x="3514795" y="0"/>
                </a:lnTo>
                <a:lnTo>
                  <a:pt x="3514795" y="1928743"/>
                </a:lnTo>
                <a:lnTo>
                  <a:pt x="0" y="192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98893" y="463429"/>
            <a:ext cx="3195878" cy="1130542"/>
            <a:chOff x="0" y="0"/>
            <a:chExt cx="4261170" cy="1507389"/>
          </a:xfrm>
        </p:grpSpPr>
        <p:sp>
          <p:nvSpPr>
            <p:cNvPr name="Freeform 12" id="12"/>
            <p:cNvSpPr/>
            <p:nvPr/>
          </p:nvSpPr>
          <p:spPr>
            <a:xfrm flipH="false" flipV="false" rot="5400000">
              <a:off x="303641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1887990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78265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5400000">
              <a:off x="-282635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8" y="0"/>
                  </a:lnTo>
                  <a:lnTo>
                    <a:pt x="1507388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997305" y="2481815"/>
            <a:ext cx="3920350" cy="7630851"/>
          </a:xfrm>
          <a:custGeom>
            <a:avLst/>
            <a:gdLst/>
            <a:ahLst/>
            <a:cxnLst/>
            <a:rect r="r" b="b" t="t" l="l"/>
            <a:pathLst>
              <a:path h="7630851" w="3920350">
                <a:moveTo>
                  <a:pt x="0" y="0"/>
                </a:moveTo>
                <a:lnTo>
                  <a:pt x="3920349" y="0"/>
                </a:lnTo>
                <a:lnTo>
                  <a:pt x="3920349" y="7630851"/>
                </a:lnTo>
                <a:lnTo>
                  <a:pt x="0" y="7630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493238" y="589456"/>
            <a:ext cx="13277197" cy="127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04"/>
              </a:lnSpc>
              <a:spcBef>
                <a:spcPct val="0"/>
              </a:spcBef>
            </a:pPr>
            <a:r>
              <a:rPr lang="en-US" b="true" sz="4389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ARQUITECTURA Y JERARQUÍAS D</a:t>
            </a:r>
            <a:r>
              <a:rPr lang="en-US" b="true" sz="4389" strike="noStrike" u="none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 CLASES</a:t>
            </a:r>
          </a:p>
          <a:p>
            <a:pPr algn="ctr" marL="0" indent="0" lvl="0">
              <a:lnSpc>
                <a:spcPts val="500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457443" y="3069087"/>
            <a:ext cx="11312993" cy="528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0E1789"/>
                </a:solidFill>
                <a:latin typeface="Open Sans"/>
                <a:ea typeface="Open Sans"/>
                <a:cs typeface="Open Sans"/>
                <a:sym typeface="Open Sans"/>
              </a:rPr>
              <a:t>El simulador se reor</a:t>
            </a:r>
            <a:r>
              <a:rPr lang="en-US" sz="2155">
                <a:solidFill>
                  <a:srgbClr val="0E1789"/>
                </a:solidFill>
                <a:latin typeface="Open Sans"/>
                <a:ea typeface="Open Sans"/>
                <a:cs typeface="Open Sans"/>
                <a:sym typeface="Open Sans"/>
              </a:rPr>
              <a:t>ganizó mediante tres clases abstractas, que reúnen características comunes y permiten desarrollar diferentes tipos de pacientes y personal.</a:t>
            </a:r>
          </a:p>
          <a:p>
            <a:pPr algn="just">
              <a:lnSpc>
                <a:spcPts val="3017"/>
              </a:lnSpc>
            </a:pP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0E1789"/>
                </a:solidFill>
                <a:latin typeface="Open Sans"/>
                <a:ea typeface="Open Sans"/>
                <a:cs typeface="Open Sans"/>
                <a:sym typeface="Open Sans"/>
              </a:rPr>
              <a:t>Jerarquías implementadas</a:t>
            </a:r>
          </a:p>
          <a:p>
            <a:pPr algn="just" marL="465410" indent="-232705" lvl="1">
              <a:lnSpc>
                <a:spcPts val="3017"/>
              </a:lnSpc>
              <a:buFont typeface="Arial"/>
              <a:buChar char="•"/>
            </a:pPr>
            <a:r>
              <a:rPr lang="en-US" sz="2155">
                <a:solidFill>
                  <a:srgbClr val="0E1789"/>
                </a:solidFill>
                <a:latin typeface="Open Sans"/>
                <a:ea typeface="Open Sans"/>
                <a:cs typeface="Open Sans"/>
                <a:sym typeface="Open Sans"/>
              </a:rPr>
              <a:t>Paciente: PacienteGeneral y PacienteEspecialidad.</a:t>
            </a:r>
          </a:p>
          <a:p>
            <a:pPr algn="just" marL="465410" indent="-232705" lvl="1">
              <a:lnSpc>
                <a:spcPts val="3017"/>
              </a:lnSpc>
              <a:buFont typeface="Arial"/>
              <a:buChar char="•"/>
            </a:pPr>
            <a:r>
              <a:rPr lang="en-US" sz="2155">
                <a:solidFill>
                  <a:srgbClr val="0E1789"/>
                </a:solidFill>
                <a:latin typeface="Open Sans"/>
                <a:ea typeface="Open Sans"/>
                <a:cs typeface="Open Sans"/>
                <a:sym typeface="Open Sans"/>
              </a:rPr>
              <a:t>Medico: MedicoGeneral y MedicoEspecialista.</a:t>
            </a:r>
          </a:p>
          <a:p>
            <a:pPr algn="just" marL="465410" indent="-232705" lvl="1">
              <a:lnSpc>
                <a:spcPts val="3017"/>
              </a:lnSpc>
              <a:buFont typeface="Arial"/>
              <a:buChar char="•"/>
            </a:pPr>
            <a:r>
              <a:rPr lang="en-US" sz="2155">
                <a:solidFill>
                  <a:srgbClr val="0E1789"/>
                </a:solidFill>
                <a:latin typeface="Open Sans"/>
                <a:ea typeface="Open Sans"/>
                <a:cs typeface="Open Sans"/>
                <a:sym typeface="Open Sans"/>
              </a:rPr>
              <a:t>Enfermero: EnfermeroGeneral, EnfermeroEspecialista y JefeEnfermeria.</a:t>
            </a:r>
          </a:p>
          <a:p>
            <a:pPr algn="just">
              <a:lnSpc>
                <a:spcPts val="3017"/>
              </a:lnSpc>
            </a:pP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0E1789"/>
                </a:solidFill>
                <a:latin typeface="Open Sans"/>
                <a:ea typeface="Open Sans"/>
                <a:cs typeface="Open Sans"/>
                <a:sym typeface="Open Sans"/>
              </a:rPr>
              <a:t>La clase Sistema administra los registros y asignaciones, mientras que AtencionMedica define operaciones compartidas por médicos y enfermeros.</a:t>
            </a:r>
          </a:p>
          <a:p>
            <a:pPr algn="just">
              <a:lnSpc>
                <a:spcPts val="3017"/>
              </a:lnSpc>
            </a:pPr>
          </a:p>
          <a:p>
            <a:pPr algn="just">
              <a:lnSpc>
                <a:spcPts val="3017"/>
              </a:lnSpc>
            </a:pPr>
            <a:r>
              <a:rPr lang="en-US" sz="2155">
                <a:solidFill>
                  <a:srgbClr val="0E1789"/>
                </a:solidFill>
                <a:latin typeface="Open Sans"/>
                <a:ea typeface="Open Sans"/>
                <a:cs typeface="Open Sans"/>
                <a:sym typeface="Open Sans"/>
              </a:rPr>
              <a:t>Esta estructura permite representar distintos roles sin duplicar innecesariamente sus atributos y métodos.</a:t>
            </a:r>
          </a:p>
          <a:p>
            <a:pPr algn="ctr">
              <a:lnSpc>
                <a:spcPts val="3017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70953" y="2824979"/>
            <a:ext cx="11981018" cy="337406"/>
            <a:chOff x="0" y="0"/>
            <a:chExt cx="3155494" cy="88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55494" cy="88864"/>
            </a:xfrm>
            <a:custGeom>
              <a:avLst/>
              <a:gdLst/>
              <a:ahLst/>
              <a:cxnLst/>
              <a:rect r="r" b="b" t="t" l="l"/>
              <a:pathLst>
                <a:path h="88864" w="3155494">
                  <a:moveTo>
                    <a:pt x="0" y="0"/>
                  </a:moveTo>
                  <a:lnTo>
                    <a:pt x="3155494" y="0"/>
                  </a:lnTo>
                  <a:lnTo>
                    <a:pt x="3155494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55494" cy="12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82538" y="1922799"/>
            <a:ext cx="12957848" cy="139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66"/>
              </a:lnSpc>
            </a:pPr>
            <a:r>
              <a:rPr lang="en-US" b="true" sz="5833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IMPLEME</a:t>
            </a:r>
            <a:r>
              <a:rPr lang="en-US" b="true" sz="5833" strike="noStrike" u="none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NTACIÓN DE HERENCIA</a:t>
            </a:r>
          </a:p>
          <a:p>
            <a:pPr algn="ctr" marL="0" indent="0" lvl="0">
              <a:lnSpc>
                <a:spcPts val="536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4077808" y="8693029"/>
            <a:ext cx="3195878" cy="1130542"/>
            <a:chOff x="0" y="0"/>
            <a:chExt cx="4261170" cy="1507389"/>
          </a:xfrm>
        </p:grpSpPr>
        <p:sp>
          <p:nvSpPr>
            <p:cNvPr name="Freeform 7" id="7"/>
            <p:cNvSpPr/>
            <p:nvPr/>
          </p:nvSpPr>
          <p:spPr>
            <a:xfrm flipH="false" flipV="false" rot="5400000">
              <a:off x="303641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887990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5400000">
              <a:off x="78265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5400000">
              <a:off x="-282635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8" y="0"/>
                  </a:lnTo>
                  <a:lnTo>
                    <a:pt x="1507388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773206" y="9258300"/>
            <a:ext cx="3514794" cy="1928743"/>
          </a:xfrm>
          <a:custGeom>
            <a:avLst/>
            <a:gdLst/>
            <a:ahLst/>
            <a:cxnLst/>
            <a:rect r="r" b="b" t="t" l="l"/>
            <a:pathLst>
              <a:path h="1928743" w="3514794">
                <a:moveTo>
                  <a:pt x="0" y="0"/>
                </a:moveTo>
                <a:lnTo>
                  <a:pt x="3514794" y="0"/>
                </a:lnTo>
                <a:lnTo>
                  <a:pt x="3514794" y="1928743"/>
                </a:lnTo>
                <a:lnTo>
                  <a:pt x="0" y="192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42685" y="-900043"/>
            <a:ext cx="3514794" cy="1928743"/>
          </a:xfrm>
          <a:custGeom>
            <a:avLst/>
            <a:gdLst/>
            <a:ahLst/>
            <a:cxnLst/>
            <a:rect r="r" b="b" t="t" l="l"/>
            <a:pathLst>
              <a:path h="1928743" w="3514794">
                <a:moveTo>
                  <a:pt x="0" y="0"/>
                </a:moveTo>
                <a:lnTo>
                  <a:pt x="3514795" y="0"/>
                </a:lnTo>
                <a:lnTo>
                  <a:pt x="3514795" y="1928743"/>
                </a:lnTo>
                <a:lnTo>
                  <a:pt x="0" y="192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98893" y="463429"/>
            <a:ext cx="3195878" cy="1130542"/>
            <a:chOff x="0" y="0"/>
            <a:chExt cx="4261170" cy="1507389"/>
          </a:xfrm>
        </p:grpSpPr>
        <p:sp>
          <p:nvSpPr>
            <p:cNvPr name="Freeform 14" id="14"/>
            <p:cNvSpPr/>
            <p:nvPr/>
          </p:nvSpPr>
          <p:spPr>
            <a:xfrm flipH="false" flipV="false" rot="5400000">
              <a:off x="303641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5400000">
              <a:off x="1887990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5400000">
              <a:off x="78265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5400000">
              <a:off x="-282635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8" y="0"/>
                  </a:lnTo>
                  <a:lnTo>
                    <a:pt x="1507388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742929" y="3431800"/>
            <a:ext cx="12802143" cy="569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2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Pacient</a:t>
            </a:r>
            <a:r>
              <a:rPr lang="en-US" b="true" sz="21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</a:t>
            </a:r>
          </a:p>
          <a:p>
            <a:pPr algn="l" marL="0" indent="0" lvl="0">
              <a:lnSpc>
                <a:spcPts val="319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Comparten nombre, apellidos, especialidad y estado. PacienteGeneral incorpora el motivo de consulta y PacienteEspecialidad el diagnós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 pr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o. Cada u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ple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menta su propia versión de solicitarConsulta().</a:t>
            </a:r>
          </a:p>
          <a:p>
            <a:pPr algn="l" marL="0" indent="0" lvl="0">
              <a:lnSpc>
                <a:spcPts val="3192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Médicos</a:t>
            </a:r>
          </a:p>
          <a:p>
            <a:pPr algn="l">
              <a:lnSpc>
                <a:spcPts val="319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Heredan sus datos profesionales y las operaciones de atención. Los médicos generales incorporan un consultorio y los especialistas una certificación. Ambos adaptan puedeAtender() y darCon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sulta() según su especialización.</a:t>
            </a:r>
          </a:p>
          <a:p>
            <a:pPr algn="l">
              <a:lnSpc>
                <a:spcPts val="3192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Enfermeros</a:t>
            </a:r>
          </a:p>
          <a:p>
            <a:pPr algn="l">
              <a:lnSpc>
                <a:spcPts val="319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Comparten los mecanismos de asignación y tratamiento. Sus subclases incorporan turnos, certificaciones o áreas de coordinación, así como comportamientos propios de atención y supervisión.</a:t>
            </a:r>
          </a:p>
          <a:p>
            <a:pPr algn="l">
              <a:lnSpc>
                <a:spcPts val="3192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Reutilización</a:t>
            </a:r>
          </a:p>
          <a:p>
            <a:pPr algn="l">
              <a:lnSpc>
                <a:spcPts val="319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utiliza super para inicializar los atributos heredados y aprovechar los métodos comunes de las clases base.</a:t>
            </a:r>
          </a:p>
          <a:p>
            <a:pPr algn="l">
              <a:lnSpc>
                <a:spcPts val="3192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21796" y="-1108064"/>
            <a:ext cx="14552378" cy="1493185"/>
            <a:chOff x="0" y="0"/>
            <a:chExt cx="3832725" cy="3932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32725" cy="393267"/>
            </a:xfrm>
            <a:custGeom>
              <a:avLst/>
              <a:gdLst/>
              <a:ahLst/>
              <a:cxnLst/>
              <a:rect r="r" b="b" t="t" l="l"/>
              <a:pathLst>
                <a:path h="393267" w="3832725">
                  <a:moveTo>
                    <a:pt x="0" y="0"/>
                  </a:moveTo>
                  <a:lnTo>
                    <a:pt x="3832725" y="0"/>
                  </a:lnTo>
                  <a:lnTo>
                    <a:pt x="3832725" y="393267"/>
                  </a:lnTo>
                  <a:lnTo>
                    <a:pt x="0" y="393267"/>
                  </a:lnTo>
                  <a:close/>
                </a:path>
              </a:pathLst>
            </a:custGeom>
            <a:solidFill>
              <a:srgbClr val="0E178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32725" cy="431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31228" y="1813940"/>
            <a:ext cx="11625544" cy="99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56"/>
              </a:lnSpc>
              <a:spcBef>
                <a:spcPct val="0"/>
              </a:spcBef>
            </a:pPr>
            <a:r>
              <a:rPr lang="en-US" b="true" sz="6189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ENCAPS</a:t>
            </a:r>
            <a:r>
              <a:rPr lang="en-US" b="true" sz="6189" strike="noStrike" u="none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ULAMIENTO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2422" y="4760126"/>
            <a:ext cx="4134611" cy="286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7"/>
              </a:lnSpc>
              <a:spcBef>
                <a:spcPct val="0"/>
              </a:spcBef>
            </a:pPr>
            <a:r>
              <a:rPr lang="en-US" sz="1892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atributos se declararon private para evitar modificaciones directas desde otras clases. Su acceso se controla mediante constructores, getters y setters cuando son necesarios.</a:t>
            </a:r>
          </a:p>
          <a:p>
            <a:pPr algn="ctr" marL="0" indent="0" lvl="0">
              <a:lnSpc>
                <a:spcPts val="287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877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465062" y="3824073"/>
            <a:ext cx="3889332" cy="739854"/>
            <a:chOff x="0" y="0"/>
            <a:chExt cx="2552697" cy="4855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52697" cy="485591"/>
            </a:xfrm>
            <a:custGeom>
              <a:avLst/>
              <a:gdLst/>
              <a:ahLst/>
              <a:cxnLst/>
              <a:rect r="r" b="b" t="t" l="l"/>
              <a:pathLst>
                <a:path h="485591" w="2552697">
                  <a:moveTo>
                    <a:pt x="2349497" y="0"/>
                  </a:moveTo>
                  <a:cubicBezTo>
                    <a:pt x="2461721" y="0"/>
                    <a:pt x="2552697" y="108703"/>
                    <a:pt x="2552697" y="242795"/>
                  </a:cubicBezTo>
                  <a:cubicBezTo>
                    <a:pt x="2552697" y="376887"/>
                    <a:pt x="2461721" y="485591"/>
                    <a:pt x="2349497" y="485591"/>
                  </a:cubicBezTo>
                  <a:lnTo>
                    <a:pt x="203200" y="485591"/>
                  </a:lnTo>
                  <a:cubicBezTo>
                    <a:pt x="90976" y="485591"/>
                    <a:pt x="0" y="376887"/>
                    <a:pt x="0" y="242795"/>
                  </a:cubicBezTo>
                  <a:cubicBezTo>
                    <a:pt x="0" y="1087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52697" cy="52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77953" y="3840827"/>
            <a:ext cx="2863549" cy="106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7"/>
              </a:lnSpc>
              <a:spcBef>
                <a:spcPct val="0"/>
              </a:spcBef>
            </a:pPr>
            <a:r>
              <a:rPr lang="en-US" b="true" sz="179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PROTECCIÓN DE</a:t>
            </a:r>
            <a:r>
              <a:rPr lang="en-US" b="true" sz="1794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INFORMACIÓN</a:t>
            </a:r>
          </a:p>
          <a:p>
            <a:pPr algn="ctr" marL="0" indent="0" lvl="0">
              <a:lnSpc>
                <a:spcPts val="2727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14977214" y="-387370"/>
            <a:ext cx="1130542" cy="3195878"/>
          </a:xfrm>
          <a:custGeom>
            <a:avLst/>
            <a:gdLst/>
            <a:ahLst/>
            <a:cxnLst/>
            <a:rect r="r" b="b" t="t" l="l"/>
            <a:pathLst>
              <a:path h="3195878" w="1130542">
                <a:moveTo>
                  <a:pt x="0" y="0"/>
                </a:moveTo>
                <a:lnTo>
                  <a:pt x="1130541" y="0"/>
                </a:lnTo>
                <a:lnTo>
                  <a:pt x="1130541" y="3195878"/>
                </a:lnTo>
                <a:lnTo>
                  <a:pt x="0" y="3195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55043" y="-453766"/>
            <a:ext cx="3032957" cy="1664335"/>
          </a:xfrm>
          <a:custGeom>
            <a:avLst/>
            <a:gdLst/>
            <a:ahLst/>
            <a:cxnLst/>
            <a:rect r="r" b="b" t="t" l="l"/>
            <a:pathLst>
              <a:path h="1664335" w="3032957">
                <a:moveTo>
                  <a:pt x="0" y="0"/>
                </a:moveTo>
                <a:lnTo>
                  <a:pt x="3032957" y="0"/>
                </a:lnTo>
                <a:lnTo>
                  <a:pt x="3032957" y="1664335"/>
                </a:lnTo>
                <a:lnTo>
                  <a:pt x="0" y="1664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321021" y="9914199"/>
            <a:ext cx="12619123" cy="834438"/>
            <a:chOff x="0" y="0"/>
            <a:chExt cx="3323555" cy="2197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23555" cy="219770"/>
            </a:xfrm>
            <a:custGeom>
              <a:avLst/>
              <a:gdLst/>
              <a:ahLst/>
              <a:cxnLst/>
              <a:rect r="r" b="b" t="t" l="l"/>
              <a:pathLst>
                <a:path h="219770" w="3323555">
                  <a:moveTo>
                    <a:pt x="0" y="0"/>
                  </a:moveTo>
                  <a:lnTo>
                    <a:pt x="3323555" y="0"/>
                  </a:lnTo>
                  <a:lnTo>
                    <a:pt x="3323555" y="219770"/>
                  </a:lnTo>
                  <a:lnTo>
                    <a:pt x="0" y="219770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323555" cy="257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5400000">
            <a:off x="1374832" y="7526117"/>
            <a:ext cx="1130542" cy="3195878"/>
          </a:xfrm>
          <a:custGeom>
            <a:avLst/>
            <a:gdLst/>
            <a:ahLst/>
            <a:cxnLst/>
            <a:rect r="r" b="b" t="t" l="l"/>
            <a:pathLst>
              <a:path h="3195878" w="1130542">
                <a:moveTo>
                  <a:pt x="0" y="0"/>
                </a:moveTo>
                <a:lnTo>
                  <a:pt x="1130541" y="0"/>
                </a:lnTo>
                <a:lnTo>
                  <a:pt x="1130541" y="3195878"/>
                </a:lnTo>
                <a:lnTo>
                  <a:pt x="0" y="3195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52661" y="9084302"/>
            <a:ext cx="3032957" cy="1664335"/>
          </a:xfrm>
          <a:custGeom>
            <a:avLst/>
            <a:gdLst/>
            <a:ahLst/>
            <a:cxnLst/>
            <a:rect r="r" b="b" t="t" l="l"/>
            <a:pathLst>
              <a:path h="1664335" w="3032957">
                <a:moveTo>
                  <a:pt x="0" y="0"/>
                </a:moveTo>
                <a:lnTo>
                  <a:pt x="3032957" y="0"/>
                </a:lnTo>
                <a:lnTo>
                  <a:pt x="3032957" y="1664335"/>
                </a:lnTo>
                <a:lnTo>
                  <a:pt x="0" y="1664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097742" y="3824073"/>
            <a:ext cx="3889332" cy="739854"/>
            <a:chOff x="0" y="0"/>
            <a:chExt cx="2552697" cy="4855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52697" cy="485591"/>
            </a:xfrm>
            <a:custGeom>
              <a:avLst/>
              <a:gdLst/>
              <a:ahLst/>
              <a:cxnLst/>
              <a:rect r="r" b="b" t="t" l="l"/>
              <a:pathLst>
                <a:path h="485591" w="2552697">
                  <a:moveTo>
                    <a:pt x="2349497" y="0"/>
                  </a:moveTo>
                  <a:cubicBezTo>
                    <a:pt x="2461721" y="0"/>
                    <a:pt x="2552697" y="108703"/>
                    <a:pt x="2552697" y="242795"/>
                  </a:cubicBezTo>
                  <a:cubicBezTo>
                    <a:pt x="2552697" y="376887"/>
                    <a:pt x="2461721" y="485591"/>
                    <a:pt x="2349497" y="485591"/>
                  </a:cubicBezTo>
                  <a:lnTo>
                    <a:pt x="203200" y="485591"/>
                  </a:lnTo>
                  <a:cubicBezTo>
                    <a:pt x="90976" y="485591"/>
                    <a:pt x="0" y="376887"/>
                    <a:pt x="0" y="242795"/>
                  </a:cubicBezTo>
                  <a:cubicBezTo>
                    <a:pt x="0" y="1087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552697" cy="52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400337" y="3766923"/>
            <a:ext cx="3284141" cy="121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7"/>
              </a:lnSpc>
              <a:spcBef>
                <a:spcPct val="0"/>
              </a:spcBef>
            </a:pPr>
            <a:r>
              <a:rPr lang="en-US" b="true" sz="205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MÉTODOS DE ACCESO Y</a:t>
            </a:r>
            <a:r>
              <a:rPr lang="en-US" b="true" sz="2057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VALIDACIÓN</a:t>
            </a:r>
          </a:p>
          <a:p>
            <a:pPr algn="ctr" marL="0" indent="0" lvl="0">
              <a:lnSpc>
                <a:spcPts val="3127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2513922" y="3824073"/>
            <a:ext cx="3889332" cy="739854"/>
            <a:chOff x="0" y="0"/>
            <a:chExt cx="2552697" cy="4855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52697" cy="485591"/>
            </a:xfrm>
            <a:custGeom>
              <a:avLst/>
              <a:gdLst/>
              <a:ahLst/>
              <a:cxnLst/>
              <a:rect r="r" b="b" t="t" l="l"/>
              <a:pathLst>
                <a:path h="485591" w="2552697">
                  <a:moveTo>
                    <a:pt x="2349497" y="0"/>
                  </a:moveTo>
                  <a:cubicBezTo>
                    <a:pt x="2461721" y="0"/>
                    <a:pt x="2552697" y="108703"/>
                    <a:pt x="2552697" y="242795"/>
                  </a:cubicBezTo>
                  <a:cubicBezTo>
                    <a:pt x="2552697" y="376887"/>
                    <a:pt x="2461721" y="485591"/>
                    <a:pt x="2349497" y="485591"/>
                  </a:cubicBezTo>
                  <a:lnTo>
                    <a:pt x="203200" y="485591"/>
                  </a:lnTo>
                  <a:cubicBezTo>
                    <a:pt x="90976" y="485591"/>
                    <a:pt x="0" y="376887"/>
                    <a:pt x="0" y="242795"/>
                  </a:cubicBezTo>
                  <a:cubicBezTo>
                    <a:pt x="0" y="1087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52697" cy="52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816517" y="3766923"/>
            <a:ext cx="3284141" cy="160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7"/>
              </a:lnSpc>
              <a:spcBef>
                <a:spcPct val="0"/>
              </a:spcBef>
            </a:pPr>
            <a:r>
              <a:rPr lang="en-US" b="true" sz="205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</a:t>
            </a:r>
            <a:r>
              <a:rPr lang="en-US" b="true" sz="2057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TROL DE MODIFICACIONES</a:t>
            </a:r>
          </a:p>
          <a:p>
            <a:pPr algn="ctr" marL="0" indent="0" lvl="0">
              <a:lnSpc>
                <a:spcPts val="312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127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6975102" y="4760126"/>
            <a:ext cx="4134611" cy="286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7"/>
              </a:lnSpc>
              <a:spcBef>
                <a:spcPct val="0"/>
              </a:spcBef>
            </a:pPr>
            <a:r>
              <a:rPr lang="en-US" sz="189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892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comprueban los valores recibidos para evitar información inválida. Los campos de texto vacíos reciben un valor predeterminado, mientras que el estado del paciente solamente admite espera, consulta o tratamiento.</a:t>
            </a:r>
          </a:p>
          <a:p>
            <a:pPr algn="ctr" marL="0" indent="0" lvl="0">
              <a:lnSpc>
                <a:spcPts val="287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877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513922" y="4760126"/>
            <a:ext cx="4134611" cy="286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7"/>
              </a:lnSpc>
              <a:spcBef>
                <a:spcPct val="0"/>
              </a:spcBef>
            </a:pPr>
            <a:r>
              <a:rPr lang="en-US" sz="189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dat</a:t>
            </a:r>
            <a:r>
              <a:rPr lang="en-US" sz="1892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os de identidad, como el nombre y la cédula profesional, permanecen sin setters. Otros atributos, como el estado, el turno o el consultorio, pueden modificarse de forma controlada.</a:t>
            </a:r>
          </a:p>
          <a:p>
            <a:pPr algn="ctr" marL="0" indent="0" lvl="0">
              <a:lnSpc>
                <a:spcPts val="287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87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548" y="-171935"/>
            <a:ext cx="8305136" cy="10665257"/>
            <a:chOff x="0" y="0"/>
            <a:chExt cx="11073515" cy="14220342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843" r="0" b="1843"/>
            <a:stretch>
              <a:fillRect/>
            </a:stretch>
          </p:blipFill>
          <p:spPr>
            <a:xfrm flipH="false" flipV="false">
              <a:off x="0" y="0"/>
              <a:ext cx="11073515" cy="14220342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062288" y="598396"/>
            <a:ext cx="10370161" cy="337406"/>
            <a:chOff x="0" y="0"/>
            <a:chExt cx="2731236" cy="888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31236" cy="88864"/>
            </a:xfrm>
            <a:custGeom>
              <a:avLst/>
              <a:gdLst/>
              <a:ahLst/>
              <a:cxnLst/>
              <a:rect r="r" b="b" t="t" l="l"/>
              <a:pathLst>
                <a:path h="88864" w="2731236">
                  <a:moveTo>
                    <a:pt x="0" y="0"/>
                  </a:moveTo>
                  <a:lnTo>
                    <a:pt x="2731236" y="0"/>
                  </a:lnTo>
                  <a:lnTo>
                    <a:pt x="2731236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31236" cy="12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5400000">
            <a:off x="14253393" y="7578479"/>
            <a:ext cx="1130542" cy="3195878"/>
          </a:xfrm>
          <a:custGeom>
            <a:avLst/>
            <a:gdLst/>
            <a:ahLst/>
            <a:cxnLst/>
            <a:rect r="r" b="b" t="t" l="l"/>
            <a:pathLst>
              <a:path h="3195878" w="1130542">
                <a:moveTo>
                  <a:pt x="0" y="0"/>
                </a:moveTo>
                <a:lnTo>
                  <a:pt x="1130541" y="0"/>
                </a:lnTo>
                <a:lnTo>
                  <a:pt x="1130541" y="3195878"/>
                </a:lnTo>
                <a:lnTo>
                  <a:pt x="0" y="3195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31222" y="9136664"/>
            <a:ext cx="3032957" cy="1664335"/>
          </a:xfrm>
          <a:custGeom>
            <a:avLst/>
            <a:gdLst/>
            <a:ahLst/>
            <a:cxnLst/>
            <a:rect r="r" b="b" t="t" l="l"/>
            <a:pathLst>
              <a:path h="1664335" w="3032957">
                <a:moveTo>
                  <a:pt x="0" y="0"/>
                </a:moveTo>
                <a:lnTo>
                  <a:pt x="3032957" y="0"/>
                </a:lnTo>
                <a:lnTo>
                  <a:pt x="3032957" y="1664335"/>
                </a:lnTo>
                <a:lnTo>
                  <a:pt x="0" y="1664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062288" y="1102911"/>
            <a:ext cx="5266308" cy="121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3"/>
              </a:lnSpc>
              <a:spcBef>
                <a:spcPct val="0"/>
              </a:spcBef>
            </a:pPr>
            <a:r>
              <a:rPr lang="en-US" b="true" sz="3819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ORGANIZACIÓN EN PAQUETES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62288" y="2600491"/>
            <a:ext cx="8938329" cy="597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2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ara separar las responsabilidades del programa, las clases se distribuyeron en cuatro paquetes principales:</a:t>
            </a:r>
          </a:p>
          <a:p>
            <a:pPr algn="l" marL="453390" indent="-226695" lvl="1">
              <a:lnSpc>
                <a:spcPts val="3192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hospital.sistema: administra los registros y las operaciones del hospital.</a:t>
            </a:r>
          </a:p>
          <a:p>
            <a:pPr algn="l" marL="453390" indent="-226695" lvl="1">
              <a:lnSpc>
                <a:spcPts val="3192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hospital.personal: contiene las jerarquías de médicos y enfermeros.</a:t>
            </a:r>
          </a:p>
          <a:p>
            <a:pPr algn="l" marL="453390" indent="-226695" lvl="1">
              <a:lnSpc>
                <a:spcPts val="3192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hospital.pacientes: reúne los diferentes tipos de pacientes.</a:t>
            </a:r>
          </a:p>
          <a:p>
            <a:pPr algn="l" marL="453390" indent="-226695" lvl="1">
              <a:lnSpc>
                <a:spcPts val="3192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hospital.interfaces: define los contratos de comportamiento.</a:t>
            </a:r>
          </a:p>
          <a:p>
            <a:pPr algn="l" marL="453390" indent="-226695" lvl="1">
              <a:lnSpc>
                <a:spcPts val="3192"/>
              </a:lnSpc>
              <a:spcBef>
                <a:spcPct val="0"/>
              </a:spcBef>
              <a:buFont typeface="Arial"/>
              <a:buChar char="•"/>
            </a:pPr>
          </a:p>
          <a:p>
            <a:pPr algn="l" marL="0" indent="0" lvl="0">
              <a:lnSpc>
                <a:spcPts val="319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Las declaraciones package e import permiten organizar y comunicar las clases. También se utilizan nombres completamente calificados cuando es necesario.</a:t>
            </a:r>
          </a:p>
          <a:p>
            <a:pPr algn="l" marL="0" indent="0" lvl="0">
              <a:lnSpc>
                <a:spcPts val="319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92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 esta manera, cada componente mantiene una función definida dentro del simulador.</a:t>
            </a:r>
          </a:p>
          <a:p>
            <a:pPr algn="l">
              <a:lnSpc>
                <a:spcPts val="319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92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70953" y="2824979"/>
            <a:ext cx="11981018" cy="337406"/>
            <a:chOff x="0" y="0"/>
            <a:chExt cx="3155494" cy="88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55494" cy="88864"/>
            </a:xfrm>
            <a:custGeom>
              <a:avLst/>
              <a:gdLst/>
              <a:ahLst/>
              <a:cxnLst/>
              <a:rect r="r" b="b" t="t" l="l"/>
              <a:pathLst>
                <a:path h="88864" w="3155494">
                  <a:moveTo>
                    <a:pt x="0" y="0"/>
                  </a:moveTo>
                  <a:lnTo>
                    <a:pt x="3155494" y="0"/>
                  </a:lnTo>
                  <a:lnTo>
                    <a:pt x="3155494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55494" cy="12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8893" y="1877860"/>
            <a:ext cx="15134509" cy="947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67"/>
              </a:lnSpc>
            </a:pPr>
            <a:r>
              <a:rPr lang="en-US" b="true" sz="6812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  <a:r>
              <a:rPr lang="en-US" b="true" sz="6812" strike="noStrike" u="none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NTERFAZ ATENCION MEDICA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077808" y="8693029"/>
            <a:ext cx="3195878" cy="1130542"/>
            <a:chOff x="0" y="0"/>
            <a:chExt cx="4261170" cy="1507389"/>
          </a:xfrm>
        </p:grpSpPr>
        <p:sp>
          <p:nvSpPr>
            <p:cNvPr name="Freeform 7" id="7"/>
            <p:cNvSpPr/>
            <p:nvPr/>
          </p:nvSpPr>
          <p:spPr>
            <a:xfrm flipH="false" flipV="false" rot="5400000">
              <a:off x="303641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887990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5400000">
              <a:off x="78265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5400000">
              <a:off x="-282635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8" y="0"/>
                  </a:lnTo>
                  <a:lnTo>
                    <a:pt x="1507388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773206" y="9258300"/>
            <a:ext cx="3514794" cy="1928743"/>
          </a:xfrm>
          <a:custGeom>
            <a:avLst/>
            <a:gdLst/>
            <a:ahLst/>
            <a:cxnLst/>
            <a:rect r="r" b="b" t="t" l="l"/>
            <a:pathLst>
              <a:path h="1928743" w="3514794">
                <a:moveTo>
                  <a:pt x="0" y="0"/>
                </a:moveTo>
                <a:lnTo>
                  <a:pt x="3514794" y="0"/>
                </a:lnTo>
                <a:lnTo>
                  <a:pt x="3514794" y="1928743"/>
                </a:lnTo>
                <a:lnTo>
                  <a:pt x="0" y="192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42685" y="-900043"/>
            <a:ext cx="3514794" cy="1928743"/>
          </a:xfrm>
          <a:custGeom>
            <a:avLst/>
            <a:gdLst/>
            <a:ahLst/>
            <a:cxnLst/>
            <a:rect r="r" b="b" t="t" l="l"/>
            <a:pathLst>
              <a:path h="1928743" w="3514794">
                <a:moveTo>
                  <a:pt x="0" y="0"/>
                </a:moveTo>
                <a:lnTo>
                  <a:pt x="3514795" y="0"/>
                </a:lnTo>
                <a:lnTo>
                  <a:pt x="3514795" y="1928743"/>
                </a:lnTo>
                <a:lnTo>
                  <a:pt x="0" y="192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98893" y="463429"/>
            <a:ext cx="3195878" cy="1130542"/>
            <a:chOff x="0" y="0"/>
            <a:chExt cx="4261170" cy="1507389"/>
          </a:xfrm>
        </p:grpSpPr>
        <p:sp>
          <p:nvSpPr>
            <p:cNvPr name="Freeform 14" id="14"/>
            <p:cNvSpPr/>
            <p:nvPr/>
          </p:nvSpPr>
          <p:spPr>
            <a:xfrm flipH="false" flipV="false" rot="5400000">
              <a:off x="303641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5400000">
              <a:off x="1887990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5400000">
              <a:off x="782657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9" y="0"/>
                  </a:lnTo>
                  <a:lnTo>
                    <a:pt x="1507389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5400000">
              <a:off x="-282635" y="282635"/>
              <a:ext cx="1507389" cy="942118"/>
            </a:xfrm>
            <a:custGeom>
              <a:avLst/>
              <a:gdLst/>
              <a:ahLst/>
              <a:cxnLst/>
              <a:rect r="r" b="b" t="t" l="l"/>
              <a:pathLst>
                <a:path h="942118" w="1507389">
                  <a:moveTo>
                    <a:pt x="0" y="0"/>
                  </a:moveTo>
                  <a:lnTo>
                    <a:pt x="1507388" y="0"/>
                  </a:lnTo>
                  <a:lnTo>
                    <a:pt x="1507388" y="942118"/>
                  </a:lnTo>
                  <a:lnTo>
                    <a:pt x="0" y="942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657369" y="3190960"/>
            <a:ext cx="12817558" cy="714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5"/>
              </a:lnSpc>
              <a:spcBef>
                <a:spcPct val="0"/>
              </a:spcBef>
            </a:pP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médicos y enfermeros pertenecen a jerarquías diferentes, pero comparten operaciones relacionadas con la atención de pacientes.</a:t>
            </a:r>
          </a:p>
          <a:p>
            <a:pPr algn="l" marL="0" indent="0" lvl="0">
              <a:lnSpc>
                <a:spcPts val="381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15"/>
              </a:lnSpc>
              <a:spcBef>
                <a:spcPct val="0"/>
              </a:spcBef>
            </a:pP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Para unificar es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comportamient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os 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im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lementó la inte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faz Atenc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Medi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a, que def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  <a:p>
            <a:pPr algn="l" marL="541968" indent="-270984" lvl="1">
              <a:lnSpc>
                <a:spcPts val="3815"/>
              </a:lnSpc>
              <a:spcBef>
                <a:spcPct val="0"/>
              </a:spcBef>
              <a:buFont typeface="Arial"/>
              <a:buChar char="•"/>
            </a:pP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darTratamiento(): realizar tratamientos a pacientes asignados.</a:t>
            </a:r>
          </a:p>
          <a:p>
            <a:pPr algn="l" marL="541968" indent="-270984" lvl="1">
              <a:lnSpc>
                <a:spcPts val="3815"/>
              </a:lnSpc>
              <a:spcBef>
                <a:spcPct val="0"/>
              </a:spcBef>
              <a:buFont typeface="Arial"/>
              <a:buChar char="•"/>
            </a:pP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verListaPacientes(): consultar los pacientes 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 un p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of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onal.</a:t>
            </a:r>
          </a:p>
          <a:p>
            <a:pPr algn="l" marL="541968" indent="-270984" lvl="1">
              <a:lnSpc>
                <a:spcPts val="3815"/>
              </a:lnSpc>
              <a:spcBef>
                <a:spcPct val="0"/>
              </a:spcBef>
              <a:buFont typeface="Arial"/>
              <a:buChar char="•"/>
            </a:pP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Nomb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e(): 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tener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n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om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sonal.</a:t>
            </a:r>
          </a:p>
          <a:p>
            <a:pPr algn="l">
              <a:lnSpc>
                <a:spcPts val="3815"/>
              </a:lnSpc>
              <a:spcBef>
                <a:spcPct val="0"/>
              </a:spcBef>
            </a:pP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Las clases abstractas Medico y Enfermero implementan esta interfaz, p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 u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ili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zar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un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feren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cia c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mún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trabajar con distintos profesionales 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cione</a:t>
            </a:r>
            <a:r>
              <a:rPr lang="en-US" sz="251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5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>
              <a:lnSpc>
                <a:spcPts val="3815"/>
              </a:lnSpc>
              <a:spcBef>
                <a:spcPct val="0"/>
              </a:spcBef>
            </a:pPr>
          </a:p>
          <a:p>
            <a:pPr algn="l">
              <a:lnSpc>
                <a:spcPts val="381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15"/>
              </a:lnSpc>
              <a:spcBef>
                <a:spcPct val="0"/>
              </a:spcBef>
            </a:pPr>
          </a:p>
          <a:p>
            <a:pPr algn="l">
              <a:lnSpc>
                <a:spcPts val="381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1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06023" y="4102294"/>
            <a:ext cx="4628176" cy="1114643"/>
            <a:chOff x="0" y="0"/>
            <a:chExt cx="2016249" cy="485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249" cy="485591"/>
            </a:xfrm>
            <a:custGeom>
              <a:avLst/>
              <a:gdLst/>
              <a:ahLst/>
              <a:cxnLst/>
              <a:rect r="r" b="b" t="t" l="l"/>
              <a:pathLst>
                <a:path h="485591" w="2016249">
                  <a:moveTo>
                    <a:pt x="1813049" y="0"/>
                  </a:moveTo>
                  <a:cubicBezTo>
                    <a:pt x="1925274" y="0"/>
                    <a:pt x="2016249" y="108703"/>
                    <a:pt x="2016249" y="242795"/>
                  </a:cubicBezTo>
                  <a:cubicBezTo>
                    <a:pt x="2016249" y="376887"/>
                    <a:pt x="1925274" y="485591"/>
                    <a:pt x="1813049" y="485591"/>
                  </a:cubicBezTo>
                  <a:lnTo>
                    <a:pt x="203200" y="485591"/>
                  </a:lnTo>
                  <a:cubicBezTo>
                    <a:pt x="90976" y="485591"/>
                    <a:pt x="0" y="376887"/>
                    <a:pt x="0" y="242795"/>
                  </a:cubicBezTo>
                  <a:cubicBezTo>
                    <a:pt x="0" y="1087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16249" cy="52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09665" y="4011373"/>
            <a:ext cx="4428982" cy="1114643"/>
            <a:chOff x="0" y="0"/>
            <a:chExt cx="1929471" cy="485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9471" cy="485591"/>
            </a:xfrm>
            <a:custGeom>
              <a:avLst/>
              <a:gdLst/>
              <a:ahLst/>
              <a:cxnLst/>
              <a:rect r="r" b="b" t="t" l="l"/>
              <a:pathLst>
                <a:path h="485591" w="1929471">
                  <a:moveTo>
                    <a:pt x="1726271" y="0"/>
                  </a:moveTo>
                  <a:cubicBezTo>
                    <a:pt x="1838495" y="0"/>
                    <a:pt x="1929471" y="108703"/>
                    <a:pt x="1929471" y="242795"/>
                  </a:cubicBezTo>
                  <a:cubicBezTo>
                    <a:pt x="1929471" y="376887"/>
                    <a:pt x="1838495" y="485591"/>
                    <a:pt x="1726271" y="485591"/>
                  </a:cubicBezTo>
                  <a:lnTo>
                    <a:pt x="203200" y="485591"/>
                  </a:lnTo>
                  <a:cubicBezTo>
                    <a:pt x="90976" y="485591"/>
                    <a:pt x="0" y="376887"/>
                    <a:pt x="0" y="242795"/>
                  </a:cubicBezTo>
                  <a:cubicBezTo>
                    <a:pt x="0" y="1087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29471" cy="52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21796" y="-1108064"/>
            <a:ext cx="14552378" cy="1493185"/>
            <a:chOff x="0" y="0"/>
            <a:chExt cx="3832725" cy="3932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32725" cy="393267"/>
            </a:xfrm>
            <a:custGeom>
              <a:avLst/>
              <a:gdLst/>
              <a:ahLst/>
              <a:cxnLst/>
              <a:rect r="r" b="b" t="t" l="l"/>
              <a:pathLst>
                <a:path h="393267" w="3832725">
                  <a:moveTo>
                    <a:pt x="0" y="0"/>
                  </a:moveTo>
                  <a:lnTo>
                    <a:pt x="3832725" y="0"/>
                  </a:lnTo>
                  <a:lnTo>
                    <a:pt x="3832725" y="393267"/>
                  </a:lnTo>
                  <a:lnTo>
                    <a:pt x="0" y="393267"/>
                  </a:lnTo>
                  <a:close/>
                </a:path>
              </a:pathLst>
            </a:custGeom>
            <a:solidFill>
              <a:srgbClr val="0E178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32725" cy="431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21021" y="9914199"/>
            <a:ext cx="12619123" cy="822217"/>
            <a:chOff x="0" y="0"/>
            <a:chExt cx="3323555" cy="2165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23555" cy="216551"/>
            </a:xfrm>
            <a:custGeom>
              <a:avLst/>
              <a:gdLst/>
              <a:ahLst/>
              <a:cxnLst/>
              <a:rect r="r" b="b" t="t" l="l"/>
              <a:pathLst>
                <a:path h="216551" w="3323555">
                  <a:moveTo>
                    <a:pt x="0" y="0"/>
                  </a:moveTo>
                  <a:lnTo>
                    <a:pt x="3323555" y="0"/>
                  </a:lnTo>
                  <a:lnTo>
                    <a:pt x="3323555" y="216551"/>
                  </a:lnTo>
                  <a:lnTo>
                    <a:pt x="0" y="216551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23555" cy="254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76093" y="2111611"/>
            <a:ext cx="1698266" cy="169826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6396" y="87561"/>
                  </a:lnTo>
                  <a:lnTo>
                    <a:pt x="553838" y="27679"/>
                  </a:lnTo>
                  <a:lnTo>
                    <a:pt x="578287" y="131093"/>
                  </a:lnTo>
                  <a:lnTo>
                    <a:pt x="681363" y="106978"/>
                  </a:lnTo>
                  <a:lnTo>
                    <a:pt x="666963" y="212279"/>
                  </a:lnTo>
                  <a:lnTo>
                    <a:pt x="771752" y="227186"/>
                  </a:lnTo>
                  <a:lnTo>
                    <a:pt x="720448" y="320152"/>
                  </a:lnTo>
                  <a:lnTo>
                    <a:pt x="812800" y="372069"/>
                  </a:lnTo>
                  <a:lnTo>
                    <a:pt x="731520" y="440145"/>
                  </a:lnTo>
                  <a:lnTo>
                    <a:pt x="798961" y="522061"/>
                  </a:lnTo>
                  <a:lnTo>
                    <a:pt x="698682" y="556053"/>
                  </a:lnTo>
                  <a:lnTo>
                    <a:pt x="732104" y="656904"/>
                  </a:lnTo>
                  <a:lnTo>
                    <a:pt x="626370" y="652219"/>
                  </a:lnTo>
                  <a:lnTo>
                    <a:pt x="621259" y="758384"/>
                  </a:lnTo>
                  <a:lnTo>
                    <a:pt x="524350" y="715658"/>
                  </a:lnTo>
                  <a:lnTo>
                    <a:pt x="481396" y="812800"/>
                  </a:lnTo>
                  <a:lnTo>
                    <a:pt x="406400" y="737801"/>
                  </a:lnTo>
                  <a:lnTo>
                    <a:pt x="331404" y="812800"/>
                  </a:lnTo>
                  <a:lnTo>
                    <a:pt x="288450" y="715658"/>
                  </a:lnTo>
                  <a:lnTo>
                    <a:pt x="191541" y="758384"/>
                  </a:lnTo>
                  <a:lnTo>
                    <a:pt x="186430" y="652219"/>
                  </a:lnTo>
                  <a:lnTo>
                    <a:pt x="80696" y="656904"/>
                  </a:lnTo>
                  <a:lnTo>
                    <a:pt x="114118" y="556053"/>
                  </a:lnTo>
                  <a:lnTo>
                    <a:pt x="13839" y="522061"/>
                  </a:lnTo>
                  <a:lnTo>
                    <a:pt x="81280" y="440145"/>
                  </a:lnTo>
                  <a:lnTo>
                    <a:pt x="0" y="372069"/>
                  </a:lnTo>
                  <a:lnTo>
                    <a:pt x="92352" y="320152"/>
                  </a:lnTo>
                  <a:lnTo>
                    <a:pt x="41047" y="227186"/>
                  </a:lnTo>
                  <a:lnTo>
                    <a:pt x="145837" y="212279"/>
                  </a:lnTo>
                  <a:lnTo>
                    <a:pt x="131437" y="106978"/>
                  </a:lnTo>
                  <a:lnTo>
                    <a:pt x="234513" y="131093"/>
                  </a:lnTo>
                  <a:lnTo>
                    <a:pt x="258962" y="27679"/>
                  </a:lnTo>
                  <a:lnTo>
                    <a:pt x="346404" y="875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E178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056726" y="4372770"/>
            <a:ext cx="4170991" cy="97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0"/>
              </a:lnSpc>
            </a:pPr>
            <a:r>
              <a:rPr lang="en-US" b="true" sz="236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POLIMORFISMO ESTÁTICO — SOBRECARGA</a:t>
            </a:r>
          </a:p>
          <a:p>
            <a:pPr algn="ctr" marL="0" indent="0" lvl="0">
              <a:lnSpc>
                <a:spcPts val="236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056726" y="5513154"/>
            <a:ext cx="4137001" cy="287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8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19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clase Sistema incorpora dos versiones de asignarPaciente(): una recibe un médico y otra un enfermero. Esto permite realizar operaciones semejantes utilizando un mismo nombre de método.</a:t>
            </a:r>
          </a:p>
          <a:p>
            <a:pPr algn="l" marL="0" indent="0" lvl="0">
              <a:lnSpc>
                <a:spcPts val="288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8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296009" y="4194137"/>
            <a:ext cx="4036894" cy="95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86"/>
              </a:lnSpc>
              <a:spcBef>
                <a:spcPct val="0"/>
              </a:spcBef>
            </a:pPr>
            <a:r>
              <a:rPr lang="en-US" b="true" sz="228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</a:t>
            </a:r>
            <a:r>
              <a:rPr lang="en-US" b="true" sz="228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LIMORFISMO DINÁMICO — SOBRESCRITURA</a:t>
            </a:r>
          </a:p>
          <a:p>
            <a:pPr algn="ctr" marL="0" indent="0" lvl="0">
              <a:lnSpc>
                <a:spcPts val="2286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422330" y="5446479"/>
            <a:ext cx="5280001" cy="359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8"/>
              </a:lnSpc>
              <a:spcBef>
                <a:spcPct val="0"/>
              </a:spcBef>
            </a:pPr>
            <a:r>
              <a:rPr lang="en-US" sz="19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Las subclases ejecutan comportamientos específicos mediante métodos comunes:</a:t>
            </a:r>
          </a:p>
          <a:p>
            <a:pPr algn="l" marL="410211" indent="-205106" lvl="1">
              <a:lnSpc>
                <a:spcPts val="2888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Pacientes: solicitarConsulta() distingue consultas generales y de especialidad.</a:t>
            </a:r>
          </a:p>
          <a:p>
            <a:pPr algn="l" marL="410211" indent="-205106" lvl="1">
              <a:lnSpc>
                <a:spcPts val="2888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Médicos: darConsulta() ejecuta la atención correspondiente al tipo de médico.</a:t>
            </a:r>
          </a:p>
          <a:p>
            <a:pPr algn="l" marL="410211" indent="-205106" lvl="1">
              <a:lnSpc>
                <a:spcPts val="2888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Enfermeros: darTratamiento() distingue los cuidados según el tipo de enfermero.</a:t>
            </a:r>
          </a:p>
          <a:p>
            <a:pPr algn="l" marL="0" indent="0" lvl="0">
              <a:lnSpc>
                <a:spcPts val="288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8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1706287" y="1947348"/>
            <a:ext cx="1435737" cy="1683025"/>
            <a:chOff x="0" y="0"/>
            <a:chExt cx="1914317" cy="224403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569007"/>
              <a:ext cx="1914317" cy="1675027"/>
              <a:chOff x="0" y="0"/>
              <a:chExt cx="812800" cy="7112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E1789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1914317" cy="1675027"/>
              <a:chOff x="0" y="0"/>
              <a:chExt cx="812800" cy="7112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ln w="38100" cap="sq">
                <a:solidFill>
                  <a:srgbClr val="0E1789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3212805" y="552150"/>
            <a:ext cx="11642990" cy="1114643"/>
            <a:chOff x="0" y="0"/>
            <a:chExt cx="5072229" cy="4855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72229" cy="485591"/>
            </a:xfrm>
            <a:custGeom>
              <a:avLst/>
              <a:gdLst/>
              <a:ahLst/>
              <a:cxnLst/>
              <a:rect r="r" b="b" t="t" l="l"/>
              <a:pathLst>
                <a:path h="485591" w="5072229">
                  <a:moveTo>
                    <a:pt x="4869029" y="0"/>
                  </a:moveTo>
                  <a:cubicBezTo>
                    <a:pt x="4981253" y="0"/>
                    <a:pt x="5072229" y="108703"/>
                    <a:pt x="5072229" y="242795"/>
                  </a:cubicBezTo>
                  <a:cubicBezTo>
                    <a:pt x="5072229" y="376887"/>
                    <a:pt x="4981253" y="485591"/>
                    <a:pt x="4869029" y="485591"/>
                  </a:cubicBezTo>
                  <a:lnTo>
                    <a:pt x="203200" y="485591"/>
                  </a:lnTo>
                  <a:cubicBezTo>
                    <a:pt x="90976" y="485591"/>
                    <a:pt x="0" y="376887"/>
                    <a:pt x="0" y="242795"/>
                  </a:cubicBezTo>
                  <a:cubicBezTo>
                    <a:pt x="0" y="1087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072229" cy="52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268518" y="847184"/>
            <a:ext cx="9750965" cy="972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68"/>
              </a:lnSpc>
              <a:spcBef>
                <a:spcPct val="0"/>
              </a:spcBef>
            </a:pPr>
            <a:r>
              <a:rPr lang="en-US" b="true" sz="3768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POLIMORFISMO </a:t>
            </a:r>
            <a:r>
              <a:rPr lang="en-US" b="true" sz="3768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ESTÁTICO Y DINÁMICO</a:t>
            </a:r>
          </a:p>
          <a:p>
            <a:pPr algn="ctr" marL="0" indent="0" lvl="0">
              <a:lnSpc>
                <a:spcPts val="3768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2401325" y="9007813"/>
            <a:ext cx="1348535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Almacenamiento polimórfico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sistema utiliza ArrayList de clases base para almacenar diferentes subclases sin crear una lista independiente para cada tipo.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5743" y="6428686"/>
            <a:ext cx="6203760" cy="246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185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Las asignacion</a:t>
            </a:r>
            <a:r>
              <a:rPr lang="en-US" sz="1855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se administran mediante listas ArrayList, conservando las restricciones originales:</a:t>
            </a:r>
          </a:p>
          <a:p>
            <a:pPr algn="ctr" marL="400709" indent="-200354" lvl="1">
              <a:lnSpc>
                <a:spcPts val="2821"/>
              </a:lnSpc>
              <a:spcBef>
                <a:spcPct val="0"/>
              </a:spcBef>
              <a:buFont typeface="Arial"/>
              <a:buChar char="•"/>
            </a:pPr>
            <a:r>
              <a:rPr lang="en-US" sz="1855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Máximo de 10 pacientes por médico.</a:t>
            </a:r>
          </a:p>
          <a:p>
            <a:pPr algn="ctr" marL="400709" indent="-200354" lvl="1">
              <a:lnSpc>
                <a:spcPts val="2821"/>
              </a:lnSpc>
              <a:spcBef>
                <a:spcPct val="0"/>
              </a:spcBef>
              <a:buFont typeface="Arial"/>
              <a:buChar char="•"/>
            </a:pPr>
            <a:r>
              <a:rPr lang="en-US" sz="1855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Máximo de 3 pacientes por enfermero.</a:t>
            </a:r>
          </a:p>
          <a:p>
            <a:pPr algn="ctr" marL="400709" indent="-200354" lvl="1">
              <a:lnSpc>
                <a:spcPts val="2821"/>
              </a:lnSpc>
              <a:spcBef>
                <a:spcPct val="0"/>
              </a:spcBef>
              <a:buFont typeface="Arial"/>
              <a:buChar char="•"/>
            </a:pPr>
            <a:r>
              <a:rPr lang="en-US" sz="1855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evitan pacientes duplicados y asignaciones incompatibles.</a:t>
            </a:r>
          </a:p>
          <a:p>
            <a:pPr algn="ctr" marL="0" indent="0" lvl="0">
              <a:lnSpc>
                <a:spcPts val="2821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2977379" y="4615947"/>
            <a:ext cx="4420488" cy="926901"/>
            <a:chOff x="0" y="0"/>
            <a:chExt cx="2315833" cy="4855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15833" cy="485591"/>
            </a:xfrm>
            <a:custGeom>
              <a:avLst/>
              <a:gdLst/>
              <a:ahLst/>
              <a:cxnLst/>
              <a:rect r="r" b="b" t="t" l="l"/>
              <a:pathLst>
                <a:path h="485591" w="2315833">
                  <a:moveTo>
                    <a:pt x="2112633" y="0"/>
                  </a:moveTo>
                  <a:cubicBezTo>
                    <a:pt x="2224857" y="0"/>
                    <a:pt x="2315833" y="108703"/>
                    <a:pt x="2315833" y="242795"/>
                  </a:cubicBezTo>
                  <a:cubicBezTo>
                    <a:pt x="2315833" y="376887"/>
                    <a:pt x="2224857" y="485591"/>
                    <a:pt x="2112633" y="485591"/>
                  </a:cubicBezTo>
                  <a:lnTo>
                    <a:pt x="203200" y="485591"/>
                  </a:lnTo>
                  <a:cubicBezTo>
                    <a:pt x="90976" y="485591"/>
                    <a:pt x="0" y="376887"/>
                    <a:pt x="0" y="242795"/>
                  </a:cubicBezTo>
                  <a:cubicBezTo>
                    <a:pt x="0" y="1087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15833" cy="52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31751" y="4718241"/>
            <a:ext cx="3311745" cy="12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2"/>
              </a:lnSpc>
              <a:spcBef>
                <a:spcPct val="0"/>
              </a:spcBef>
            </a:pPr>
            <a:r>
              <a:rPr lang="en-US" b="true" sz="265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CONTRO</a:t>
            </a:r>
            <a:r>
              <a:rPr lang="en-US" b="true" sz="2651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 DE CAPACIDAD</a:t>
            </a:r>
          </a:p>
          <a:p>
            <a:pPr algn="ctr" marL="0" indent="0" lvl="0">
              <a:lnSpc>
                <a:spcPts val="302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304876" y="6428686"/>
            <a:ext cx="5069737" cy="270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1"/>
              </a:lnSpc>
            </a:pPr>
            <a:r>
              <a:rPr lang="en-US" sz="178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sistema mantiene una sola consulta activa por médico y actualiza el estado del paciente al recibir atención o tratamiento.</a:t>
            </a:r>
          </a:p>
          <a:p>
            <a:pPr algn="ctr">
              <a:lnSpc>
                <a:spcPts val="2711"/>
              </a:lnSpc>
            </a:pPr>
            <a:r>
              <a:rPr lang="en-US" sz="178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Además, el jefe de enfermería puede coordinar a su equipo y supervisar la cantidad de pacientes asignados a sus integrantes.</a:t>
            </a:r>
          </a:p>
          <a:p>
            <a:pPr algn="ctr" marL="0" indent="0" lvl="0">
              <a:lnSpc>
                <a:spcPts val="2711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711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304876" y="4615947"/>
            <a:ext cx="4420488" cy="926901"/>
            <a:chOff x="0" y="0"/>
            <a:chExt cx="2315833" cy="4855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15833" cy="485591"/>
            </a:xfrm>
            <a:custGeom>
              <a:avLst/>
              <a:gdLst/>
              <a:ahLst/>
              <a:cxnLst/>
              <a:rect r="r" b="b" t="t" l="l"/>
              <a:pathLst>
                <a:path h="485591" w="2315833">
                  <a:moveTo>
                    <a:pt x="2112633" y="0"/>
                  </a:moveTo>
                  <a:cubicBezTo>
                    <a:pt x="2224857" y="0"/>
                    <a:pt x="2315833" y="108703"/>
                    <a:pt x="2315833" y="242795"/>
                  </a:cubicBezTo>
                  <a:cubicBezTo>
                    <a:pt x="2315833" y="376887"/>
                    <a:pt x="2224857" y="485591"/>
                    <a:pt x="2112633" y="485591"/>
                  </a:cubicBezTo>
                  <a:lnTo>
                    <a:pt x="203200" y="485591"/>
                  </a:lnTo>
                  <a:cubicBezTo>
                    <a:pt x="90976" y="485591"/>
                    <a:pt x="0" y="376887"/>
                    <a:pt x="0" y="242795"/>
                  </a:cubicBezTo>
                  <a:cubicBezTo>
                    <a:pt x="0" y="10870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15833" cy="523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95845" y="4761203"/>
            <a:ext cx="3577719" cy="118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57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</a:t>
            </a:r>
            <a:r>
              <a:rPr lang="en-US" b="true" sz="2579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ROCESO DE ATENCIÓN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79672" y="1680941"/>
            <a:ext cx="14067825" cy="151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2"/>
              </a:lnSpc>
              <a:spcBef>
                <a:spcPct val="0"/>
              </a:spcBef>
            </a:pPr>
            <a:r>
              <a:rPr lang="en-US" b="true" sz="5212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  <a:r>
              <a:rPr lang="en-US" b="true" sz="5212" strike="noStrike" u="none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SIGNACIÓN Y CONTROL DE PACIENTES</a:t>
            </a:r>
          </a:p>
          <a:p>
            <a:pPr algn="l" marL="0" indent="0" lvl="0">
              <a:lnSpc>
                <a:spcPts val="5942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-9704722" y="7531938"/>
            <a:ext cx="19409443" cy="1461356"/>
            <a:chOff x="0" y="0"/>
            <a:chExt cx="5111952" cy="3848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11952" cy="384884"/>
            </a:xfrm>
            <a:custGeom>
              <a:avLst/>
              <a:gdLst/>
              <a:ahLst/>
              <a:cxnLst/>
              <a:rect r="r" b="b" t="t" l="l"/>
              <a:pathLst>
                <a:path h="384884" w="5111952">
                  <a:moveTo>
                    <a:pt x="0" y="0"/>
                  </a:moveTo>
                  <a:lnTo>
                    <a:pt x="5111952" y="0"/>
                  </a:lnTo>
                  <a:lnTo>
                    <a:pt x="5111952" y="384884"/>
                  </a:lnTo>
                  <a:lnTo>
                    <a:pt x="0" y="384884"/>
                  </a:lnTo>
                  <a:close/>
                </a:path>
              </a:pathLst>
            </a:custGeom>
            <a:solidFill>
              <a:srgbClr val="0E178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111952" cy="422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750105" y="5727500"/>
            <a:ext cx="454547" cy="433240"/>
            <a:chOff x="0" y="0"/>
            <a:chExt cx="812800" cy="774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F4B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5400000">
            <a:off x="14977214" y="-387370"/>
            <a:ext cx="1130542" cy="3195878"/>
          </a:xfrm>
          <a:custGeom>
            <a:avLst/>
            <a:gdLst/>
            <a:ahLst/>
            <a:cxnLst/>
            <a:rect r="r" b="b" t="t" l="l"/>
            <a:pathLst>
              <a:path h="3195878" w="1130542">
                <a:moveTo>
                  <a:pt x="0" y="0"/>
                </a:moveTo>
                <a:lnTo>
                  <a:pt x="1130541" y="0"/>
                </a:lnTo>
                <a:lnTo>
                  <a:pt x="1130541" y="3195878"/>
                </a:lnTo>
                <a:lnTo>
                  <a:pt x="0" y="3195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55043" y="-453766"/>
            <a:ext cx="3032957" cy="1664335"/>
          </a:xfrm>
          <a:custGeom>
            <a:avLst/>
            <a:gdLst/>
            <a:ahLst/>
            <a:cxnLst/>
            <a:rect r="r" b="b" t="t" l="l"/>
            <a:pathLst>
              <a:path h="1664335" w="3032957">
                <a:moveTo>
                  <a:pt x="0" y="0"/>
                </a:moveTo>
                <a:lnTo>
                  <a:pt x="3032957" y="0"/>
                </a:lnTo>
                <a:lnTo>
                  <a:pt x="3032957" y="1664335"/>
                </a:lnTo>
                <a:lnTo>
                  <a:pt x="0" y="1664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436982" y="2683007"/>
            <a:ext cx="11788858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402D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Compatibilidad de especialidades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Antes de asignar un paciente, el sistema utiliza el método puedeAtender() para comprobar si el profesional puede atenderlo. Los médicos y enfermeros especialistas únicamente aceptan pacientes de su especialidad correspondiente.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0304876" y="5727500"/>
            <a:ext cx="454547" cy="433240"/>
            <a:chOff x="0" y="0"/>
            <a:chExt cx="812800" cy="774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F4BD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228600" y="228600"/>
              <a:ext cx="355600" cy="38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9200" y="2502648"/>
            <a:ext cx="9529603" cy="142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913">
                <a:solidFill>
                  <a:srgbClr val="0E17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PRUEBAS Y RESULTADOS</a:t>
            </a:r>
          </a:p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818846" y="3535275"/>
            <a:ext cx="10325034" cy="623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30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Asignación de especialidades</a:t>
            </a:r>
          </a:p>
          <a:p>
            <a:pPr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</a:t>
            </a:r>
            <a:r>
              <a:rPr lang="en-US" sz="230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sistema rechazó la asignación de un paciente general a un médico especialista en Cardiología y posteriormente aceptó un paciente de la especialidad correspondiente.</a:t>
            </a:r>
          </a:p>
          <a:p>
            <a:pPr algn="l">
              <a:lnSpc>
                <a:spcPts val="3232"/>
              </a:lnSpc>
            </a:pPr>
            <a:r>
              <a:rPr lang="en-US" sz="230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Comportamiento polimórfico</a:t>
            </a:r>
          </a:p>
          <a:p>
            <a:pPr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pacientes generales y de especialidad ejecutaron diferentes versiones de solicitarConsulta(), mostrando su motivo de consulta o diagnóstico previo.</a:t>
            </a:r>
          </a:p>
          <a:p>
            <a:pPr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Supervisión de enfermería</a:t>
            </a:r>
          </a:p>
          <a:p>
            <a:pPr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jefe de enfermería permitió agregar profesionales a su equipo y consultar la carga de pacientes de cada integrante.</a:t>
            </a:r>
          </a:p>
          <a:p>
            <a:pPr algn="l">
              <a:lnSpc>
                <a:spcPts val="3232"/>
              </a:lnSpc>
            </a:pPr>
            <a:r>
              <a:rPr lang="en-US" sz="2309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Resultado general</a:t>
            </a:r>
          </a:p>
          <a:p>
            <a:pPr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simulador incorpora nuevas jerarquías y comportamientos, conservando las principales operaciones y restricciones de la primera etapa.</a:t>
            </a:r>
          </a:p>
          <a:p>
            <a:pPr algn="l">
              <a:lnSpc>
                <a:spcPts val="3232"/>
              </a:lnSpc>
            </a:pPr>
          </a:p>
          <a:p>
            <a:pPr algn="l">
              <a:lnSpc>
                <a:spcPts val="3232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2379304" y="741544"/>
            <a:ext cx="5433337" cy="8773974"/>
            <a:chOff x="0" y="0"/>
            <a:chExt cx="7244450" cy="11698632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26777" t="0" r="26777" b="0"/>
            <a:stretch>
              <a:fillRect/>
            </a:stretch>
          </p:blipFill>
          <p:spPr>
            <a:xfrm flipH="false" flipV="false">
              <a:off x="0" y="0"/>
              <a:ext cx="7244450" cy="11698632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1818846" y="9338907"/>
            <a:ext cx="15993795" cy="353221"/>
            <a:chOff x="0" y="0"/>
            <a:chExt cx="4212358" cy="93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2358" cy="93029"/>
            </a:xfrm>
            <a:custGeom>
              <a:avLst/>
              <a:gdLst/>
              <a:ahLst/>
              <a:cxnLst/>
              <a:rect r="r" b="b" t="t" l="l"/>
              <a:pathLst>
                <a:path h="93029" w="4212358">
                  <a:moveTo>
                    <a:pt x="0" y="0"/>
                  </a:moveTo>
                  <a:lnTo>
                    <a:pt x="4212358" y="0"/>
                  </a:lnTo>
                  <a:lnTo>
                    <a:pt x="4212358" y="93029"/>
                  </a:lnTo>
                  <a:lnTo>
                    <a:pt x="0" y="93029"/>
                  </a:lnTo>
                  <a:close/>
                </a:path>
              </a:pathLst>
            </a:custGeom>
            <a:solidFill>
              <a:srgbClr val="0E178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12358" cy="131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519204" y="-333113"/>
            <a:ext cx="2547904" cy="11513167"/>
            <a:chOff x="0" y="0"/>
            <a:chExt cx="671053" cy="30322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1053" cy="3032274"/>
            </a:xfrm>
            <a:custGeom>
              <a:avLst/>
              <a:gdLst/>
              <a:ahLst/>
              <a:cxnLst/>
              <a:rect r="r" b="b" t="t" l="l"/>
              <a:pathLst>
                <a:path h="3032274" w="671053">
                  <a:moveTo>
                    <a:pt x="0" y="0"/>
                  </a:moveTo>
                  <a:lnTo>
                    <a:pt x="671053" y="0"/>
                  </a:lnTo>
                  <a:lnTo>
                    <a:pt x="671053" y="3032274"/>
                  </a:lnTo>
                  <a:lnTo>
                    <a:pt x="0" y="3032274"/>
                  </a:lnTo>
                  <a:close/>
                </a:path>
              </a:pathLst>
            </a:custGeom>
            <a:solidFill>
              <a:srgbClr val="3F4B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71053" cy="3070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487778" y="378402"/>
            <a:ext cx="3032957" cy="1664335"/>
          </a:xfrm>
          <a:custGeom>
            <a:avLst/>
            <a:gdLst/>
            <a:ahLst/>
            <a:cxnLst/>
            <a:rect r="r" b="b" t="t" l="l"/>
            <a:pathLst>
              <a:path h="1664335" w="3032957">
                <a:moveTo>
                  <a:pt x="0" y="0"/>
                </a:moveTo>
                <a:lnTo>
                  <a:pt x="3032956" y="0"/>
                </a:lnTo>
                <a:lnTo>
                  <a:pt x="3032956" y="1664335"/>
                </a:lnTo>
                <a:lnTo>
                  <a:pt x="0" y="1664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4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77568" y="4969438"/>
            <a:ext cx="11981018" cy="337406"/>
            <a:chOff x="0" y="0"/>
            <a:chExt cx="3155494" cy="88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55494" cy="88864"/>
            </a:xfrm>
            <a:custGeom>
              <a:avLst/>
              <a:gdLst/>
              <a:ahLst/>
              <a:cxnLst/>
              <a:rect r="r" b="b" t="t" l="l"/>
              <a:pathLst>
                <a:path h="88864" w="3155494">
                  <a:moveTo>
                    <a:pt x="0" y="0"/>
                  </a:moveTo>
                  <a:lnTo>
                    <a:pt x="3155494" y="0"/>
                  </a:lnTo>
                  <a:lnTo>
                    <a:pt x="3155494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0E178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55494" cy="12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29415" y="3679377"/>
            <a:ext cx="12029170" cy="85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59"/>
              </a:lnSpc>
            </a:pPr>
            <a:r>
              <a:rPr lang="en-US" sz="6912">
                <a:solidFill>
                  <a:srgbClr val="FFFE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CONCLUSIÓN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68456" y="5475010"/>
            <a:ext cx="10751087" cy="2930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075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 esta segunda etapa logramos mejorar la estructura del simulador hospitalario mediante la implementación de encapsulamiento, herencia, clases abstractas, interfaces y polimorfismo. Estos elementos permitieron organizar mejor el código, proteger la información y representar diferentes tipos de pacientes y personal médico, manteniendo las restricciones de asignación, capacidad y atención establecidas en la primera etapa.</a:t>
            </a:r>
          </a:p>
          <a:p>
            <a:pPr algn="ctr" marL="0" indent="0" lvl="0">
              <a:lnSpc>
                <a:spcPts val="3154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5400000">
            <a:off x="14808139" y="-127862"/>
            <a:ext cx="1266178" cy="3579303"/>
          </a:xfrm>
          <a:custGeom>
            <a:avLst/>
            <a:gdLst/>
            <a:ahLst/>
            <a:cxnLst/>
            <a:rect r="r" b="b" t="t" l="l"/>
            <a:pathLst>
              <a:path h="3579303" w="1266178">
                <a:moveTo>
                  <a:pt x="0" y="0"/>
                </a:moveTo>
                <a:lnTo>
                  <a:pt x="1266179" y="0"/>
                </a:lnTo>
                <a:lnTo>
                  <a:pt x="1266179" y="3579303"/>
                </a:lnTo>
                <a:lnTo>
                  <a:pt x="0" y="3579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2185262" y="7069400"/>
            <a:ext cx="1266178" cy="3579303"/>
          </a:xfrm>
          <a:custGeom>
            <a:avLst/>
            <a:gdLst/>
            <a:ahLst/>
            <a:cxnLst/>
            <a:rect r="r" b="b" t="t" l="l"/>
            <a:pathLst>
              <a:path h="3579303" w="1266178">
                <a:moveTo>
                  <a:pt x="0" y="0"/>
                </a:moveTo>
                <a:lnTo>
                  <a:pt x="1266179" y="0"/>
                </a:lnTo>
                <a:lnTo>
                  <a:pt x="1266179" y="3579303"/>
                </a:lnTo>
                <a:lnTo>
                  <a:pt x="0" y="3579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4B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7480" y="4179714"/>
            <a:ext cx="10373041" cy="1069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4"/>
              </a:lnSpc>
              <a:spcBef>
                <a:spcPct val="0"/>
              </a:spcBef>
            </a:pPr>
            <a:r>
              <a:rPr lang="en-US" b="true" sz="6957">
                <a:solidFill>
                  <a:srgbClr val="FFFEF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Muchas Gracias.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627522" y="-395051"/>
            <a:ext cx="3032957" cy="1664335"/>
          </a:xfrm>
          <a:custGeom>
            <a:avLst/>
            <a:gdLst/>
            <a:ahLst/>
            <a:cxnLst/>
            <a:rect r="r" b="b" t="t" l="l"/>
            <a:pathLst>
              <a:path h="1664335" w="3032957">
                <a:moveTo>
                  <a:pt x="0" y="0"/>
                </a:moveTo>
                <a:lnTo>
                  <a:pt x="3032956" y="0"/>
                </a:lnTo>
                <a:lnTo>
                  <a:pt x="3032956" y="1664335"/>
                </a:lnTo>
                <a:lnTo>
                  <a:pt x="0" y="1664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27522" y="9051900"/>
            <a:ext cx="3032957" cy="1664335"/>
          </a:xfrm>
          <a:custGeom>
            <a:avLst/>
            <a:gdLst/>
            <a:ahLst/>
            <a:cxnLst/>
            <a:rect r="r" b="b" t="t" l="l"/>
            <a:pathLst>
              <a:path h="1664335" w="3032957">
                <a:moveTo>
                  <a:pt x="0" y="0"/>
                </a:moveTo>
                <a:lnTo>
                  <a:pt x="3032956" y="0"/>
                </a:lnTo>
                <a:lnTo>
                  <a:pt x="3032956" y="1664335"/>
                </a:lnTo>
                <a:lnTo>
                  <a:pt x="0" y="1664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DAHZEjaqMDE</dc:identifier>
  <dcterms:modified xsi:type="dcterms:W3CDTF">2011-08-01T06:04:30Z</dcterms:modified>
  <cp:revision>1</cp:revision>
  <dc:title>Presentación Proyecto etapa 2</dc:title>
</cp:coreProperties>
</file>